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26FEC-A0C4-4315-83C0-91722EDD4823}" v="14" dt="2026-10-05T13:27:53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ki Banerjee" userId="2423231549925141" providerId="LiveId" clId="{238EFB36-EC80-456E-B929-54BEDE2687DA}"/>
    <pc:docChg chg="undo modSld">
      <pc:chgData name="Satyaki Banerjee" userId="2423231549925141" providerId="LiveId" clId="{238EFB36-EC80-456E-B929-54BEDE2687DA}" dt="2026-10-05T13:31:26.434" v="19" actId="207"/>
      <pc:docMkLst>
        <pc:docMk/>
      </pc:docMkLst>
      <pc:sldChg chg="addSp delSp modSp mod setBg">
        <pc:chgData name="Satyaki Banerjee" userId="2423231549925141" providerId="LiveId" clId="{238EFB36-EC80-456E-B929-54BEDE2687DA}" dt="2026-10-05T13:31:26.434" v="19" actId="207"/>
        <pc:sldMkLst>
          <pc:docMk/>
          <pc:sldMk cId="1283740582" sldId="258"/>
        </pc:sldMkLst>
        <pc:spChg chg="mod">
          <ac:chgData name="Satyaki Banerjee" userId="2423231549925141" providerId="LiveId" clId="{238EFB36-EC80-456E-B929-54BEDE2687DA}" dt="2026-10-05T13:31:26.434" v="19" actId="207"/>
          <ac:spMkLst>
            <pc:docMk/>
            <pc:sldMk cId="1283740582" sldId="258"/>
            <ac:spMk id="2" creationId="{B88C5D42-5CBE-24E0-DDBB-8D12C76DC3D3}"/>
          </ac:spMkLst>
        </pc:spChg>
        <pc:spChg chg="add del mod">
          <ac:chgData name="Satyaki Banerjee" userId="2423231549925141" providerId="LiveId" clId="{238EFB36-EC80-456E-B929-54BEDE2687DA}" dt="2026-10-05T13:24:52.479" v="2"/>
          <ac:spMkLst>
            <pc:docMk/>
            <pc:sldMk cId="1283740582" sldId="258"/>
            <ac:spMk id="3" creationId="{47B0EB80-6E6C-2477-76C7-FA9E771B154B}"/>
          </ac:spMkLst>
        </pc:spChg>
        <pc:spChg chg="add del mod">
          <ac:chgData name="Satyaki Banerjee" userId="2423231549925141" providerId="LiveId" clId="{238EFB36-EC80-456E-B929-54BEDE2687DA}" dt="2026-10-05T13:27:21.352" v="10" actId="47"/>
          <ac:spMkLst>
            <pc:docMk/>
            <pc:sldMk cId="1283740582" sldId="258"/>
            <ac:spMk id="5" creationId="{D44EECB8-2D13-6D68-4680-211D5E173B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8869A-2051-9488-0775-E127D3060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4AFCD-01CB-BCB3-8845-CF090CE7C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0CE8B-D4D9-48C4-5A53-2442EBF8C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3FB92-DDE4-82BD-0582-051F1F1A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E452B-BB75-0756-03A7-1EFEB828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05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40BD-82A4-3D35-C6BF-694CBE527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07EE7-5583-7827-28FD-4B29A5508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3B20B-B0E1-4E54-AAA3-2F9D897B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B5C77-53DC-825B-F8B6-BCD091239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32978-17BB-15FB-7570-B335BDBF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21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49443-E283-8336-7362-E188F83FF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085F2-4854-D036-A2F7-6FF688458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33F79-FBB0-824A-39F4-B56C367F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A1F12-B912-D35C-3448-C02F376A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55F68-DBD5-A58D-2954-A3963451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21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87D4-A9A1-D6F3-6A9D-2789AD18C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0785-019E-33CC-A0BD-D3CCC114D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7C171-030B-5065-BCB7-48DB09ABD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B74B9-5C28-B310-7773-F715D5E1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B7009-9640-CE39-B7D9-1D52FDE0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655E0-0E7A-8A39-0D4E-340FEE5A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115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36F2-97A3-42D9-0734-A010FF2B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3BD3-055E-B1D3-7530-D66AAA4D5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22BBE-8692-0ABF-BD83-F2EBD0EF0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B332C4-47AA-2C6A-A774-7A788E15F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1E605-F7F3-142E-1EDA-36F6B31AC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2204C-B676-7ECC-BC4A-5636B3875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61FF17-6469-7002-F694-E0789862C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EE40AB-8590-3E5E-D1A5-572B40F7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20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CD6B-DC53-77F0-D7FE-A2D9F467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7FF75C-EB7B-2291-FA2F-B8E4BE35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A4F7D-45EB-3BCB-A754-06D1AF72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43871-A609-BDC3-E284-249B2BCD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34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5ABF4-6DE7-E225-4B78-6FD8ACE95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851E0-9177-9D06-DE13-59A5A8840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F2292-A8DD-02C1-FCA5-DCC02EF6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5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0273-BBF9-D0F9-8D5F-D2C6D8A1C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916F9-EDC0-17FF-D3E0-7B654987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FAA60-FD24-66C6-1088-6E2DF5550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BA408-EB01-1FB5-15B3-0E13E13A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EDF0C-D44F-6D0C-1CF4-A49B2F80B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029FC-5453-719F-5DD5-6A93FB75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510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E697-A203-E70C-A5CB-E35DD266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099E7-247C-CA66-ECED-0CDC4886D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549FE-FE0F-A188-EECF-E07499D21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CBF2-5EA7-BB34-2DDB-7164B6F7A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4E8C6-270A-D3D5-2668-67A972520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561FC-DFDC-8D68-D954-B1625EDE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723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38F9-4B24-BE91-2C93-0E3B2234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A77CC7-C028-D71E-4EBA-976EEDAB5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C3A86-2BC5-9F9B-929A-7942E4BD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BBCA3-E8C8-9774-69A5-75D55E86F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06198-CA12-0C9C-B35C-B2714A88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1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7BA9A-320F-3F20-70D7-DB2EA3CCA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7D8FC-11A6-899E-45B6-9EC14CBF8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12E38-AAF9-8230-B653-2252E397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EC26-DDE6-58C8-7F1B-460612BD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4BA50-68DF-5ED2-CCD6-9A7E7B32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4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BAD0C8-B60C-6B08-BCF9-2E63923A5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0FB31-5256-5B70-ECE5-5B9B420FB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92BD-6DC7-2615-0704-1EA9BB8A7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37AEC-133D-46CD-8CB7-9DFB508E621B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5AC43-44D3-5AA1-41BB-0431C0D14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77504-B05F-4814-5D96-312B8AB4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4EC14-C281-4F2E-A61B-C45374AB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0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computer%20system" TargetMode="External"/><Relationship Id="rId2" Type="http://schemas.openxmlformats.org/officeDocument/2006/relationships/image" Target="../media/image2.1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plan?page=1&amp;sort=curated&amp;topic_group=_topic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information%20technology%20background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computer-engineering-science-tech-wallpaper-bjgzy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29455-computer-monitor-scree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es-es/foto/texto-cartas-fondo-verde-conclusion-7186207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7D20-EBD4-A82A-CB3E-ECB7D4F69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Autofit/>
          </a:bodyPr>
          <a:lstStyle/>
          <a:p>
            <a:r>
              <a:rPr lang="en-IN" b="1" spc="3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Mastermind Codebreaker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D3EF0-43DB-315D-883E-93FF10AA63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No. : 20</a:t>
            </a:r>
          </a:p>
          <a:p>
            <a:r>
              <a:rPr lang="en-IN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No. :06</a:t>
            </a:r>
          </a:p>
          <a:p>
            <a:endParaRPr lang="en-IN" sz="3200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Indian Institute of Information Technology ,</a:t>
            </a:r>
          </a:p>
          <a:p>
            <a:r>
              <a:rPr lang="en-IN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Kalyani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F179D-F5C4-B38B-75BD-9BF51D3FEF63}"/>
              </a:ext>
            </a:extLst>
          </p:cNvPr>
          <p:cNvSpPr txBox="1"/>
          <p:nvPr/>
        </p:nvSpPr>
        <p:spPr>
          <a:xfrm>
            <a:off x="2811294" y="2928471"/>
            <a:ext cx="7451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MIPS Assembly Programming using </a:t>
            </a:r>
            <a:r>
              <a:rPr lang="en-IN" sz="2800" dirty="0" err="1">
                <a:solidFill>
                  <a:schemeClr val="bg1"/>
                </a:solidFill>
              </a:rPr>
              <a:t>QtSpim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97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7CA5A-5259-0C91-F3FA-3F98397DD0AE}"/>
              </a:ext>
            </a:extLst>
          </p:cNvPr>
          <p:cNvSpPr txBox="1"/>
          <p:nvPr/>
        </p:nvSpPr>
        <p:spPr>
          <a:xfrm>
            <a:off x="544749" y="498259"/>
            <a:ext cx="7091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A23CD77-37B8-3100-4B15-6C781F3D5520}"/>
              </a:ext>
            </a:extLst>
          </p:cNvPr>
          <p:cNvSpPr/>
          <p:nvPr/>
        </p:nvSpPr>
        <p:spPr>
          <a:xfrm>
            <a:off x="252919" y="1546697"/>
            <a:ext cx="3686783" cy="2071991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A64A8E-1714-6FC1-7ACA-D07ADF7078DE}"/>
              </a:ext>
            </a:extLst>
          </p:cNvPr>
          <p:cNvSpPr/>
          <p:nvPr/>
        </p:nvSpPr>
        <p:spPr>
          <a:xfrm>
            <a:off x="8391727" y="1546698"/>
            <a:ext cx="3686783" cy="2071991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A3DF8A-66B8-519F-657F-116FFCCD5EB9}"/>
              </a:ext>
            </a:extLst>
          </p:cNvPr>
          <p:cNvSpPr/>
          <p:nvPr/>
        </p:nvSpPr>
        <p:spPr>
          <a:xfrm>
            <a:off x="4405008" y="1546698"/>
            <a:ext cx="3686783" cy="2071991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3F10A-C38C-53DF-327B-8C2D5798E13E}"/>
              </a:ext>
            </a:extLst>
          </p:cNvPr>
          <p:cNvSpPr txBox="1"/>
          <p:nvPr/>
        </p:nvSpPr>
        <p:spPr>
          <a:xfrm>
            <a:off x="693079" y="1546216"/>
            <a:ext cx="260701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4-Digit Secret</a:t>
            </a:r>
          </a:p>
          <a:p>
            <a:pPr algn="ctr"/>
            <a:r>
              <a:rPr lang="en-IN" sz="2400" b="1" spc="-150" dirty="0">
                <a:solidFill>
                  <a:srgbClr val="FF0000"/>
                </a:solidFill>
              </a:rPr>
              <a:t>THE PROGRAM GENERATES A </a:t>
            </a:r>
          </a:p>
          <a:p>
            <a:pPr algn="ctr"/>
            <a:r>
              <a:rPr lang="en-IN" sz="2400" b="1" spc="-150" dirty="0">
                <a:solidFill>
                  <a:srgbClr val="FF0000"/>
                </a:solidFill>
              </a:rPr>
              <a:t>SECRET FOUR DIGIT SEQUENCE</a:t>
            </a:r>
          </a:p>
          <a:p>
            <a:endParaRPr lang="en-IN" sz="2800" b="1" u="sng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4CE1B-6AE2-BB2C-6750-D7540E9C8269}"/>
              </a:ext>
            </a:extLst>
          </p:cNvPr>
          <p:cNvSpPr txBox="1"/>
          <p:nvPr/>
        </p:nvSpPr>
        <p:spPr>
          <a:xfrm>
            <a:off x="4753566" y="1585366"/>
            <a:ext cx="264341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 Attempts</a:t>
            </a:r>
          </a:p>
          <a:p>
            <a:r>
              <a:rPr lang="en-IN" sz="2400" b="1" spc="-150" dirty="0">
                <a:solidFill>
                  <a:srgbClr val="FF0000"/>
                </a:solidFill>
              </a:rPr>
              <a:t>THE PLAYER GETS A </a:t>
            </a:r>
          </a:p>
          <a:p>
            <a:r>
              <a:rPr lang="en-IN" sz="2400" b="1" spc="-150" dirty="0">
                <a:solidFill>
                  <a:srgbClr val="FF0000"/>
                </a:solidFill>
              </a:rPr>
              <a:t>MAXIMUM OF 7 </a:t>
            </a:r>
          </a:p>
          <a:p>
            <a:r>
              <a:rPr lang="en-IN" sz="2400" b="1" spc="-150" dirty="0">
                <a:solidFill>
                  <a:srgbClr val="FF0000"/>
                </a:solidFill>
              </a:rPr>
              <a:t>ATTEMPTS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8FBAB1-7844-441D-37DD-3DC23DD030B0}"/>
              </a:ext>
            </a:extLst>
          </p:cNvPr>
          <p:cNvSpPr txBox="1"/>
          <p:nvPr/>
        </p:nvSpPr>
        <p:spPr>
          <a:xfrm>
            <a:off x="8848225" y="1618140"/>
            <a:ext cx="277378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IN" sz="2800" b="1" u="sng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Feedback</a:t>
            </a:r>
          </a:p>
          <a:p>
            <a:pPr algn="ctr"/>
            <a:r>
              <a:rPr lang="en-IN" sz="2400" b="1" spc="-150" dirty="0">
                <a:solidFill>
                  <a:srgbClr val="FF0000"/>
                </a:solidFill>
              </a:rPr>
              <a:t>EACH CASE </a:t>
            </a:r>
          </a:p>
          <a:p>
            <a:pPr algn="ctr"/>
            <a:r>
              <a:rPr lang="en-IN" sz="2400" b="1" spc="-150" dirty="0">
                <a:solidFill>
                  <a:srgbClr val="FF0000"/>
                </a:solidFill>
              </a:rPr>
              <a:t>RECEIVES </a:t>
            </a:r>
          </a:p>
          <a:p>
            <a:pPr algn="ctr"/>
            <a:r>
              <a:rPr lang="en-IN" sz="2400" b="1" spc="-150" dirty="0">
                <a:solidFill>
                  <a:srgbClr val="FF0000"/>
                </a:solidFill>
              </a:rPr>
              <a:t>POSITION &amp; DIGIT</a:t>
            </a:r>
          </a:p>
          <a:p>
            <a:pPr algn="ctr"/>
            <a:r>
              <a:rPr lang="en-IN" sz="2400" b="1" spc="-150" dirty="0">
                <a:solidFill>
                  <a:srgbClr val="FF0000"/>
                </a:solidFill>
              </a:rPr>
              <a:t> FEEDBACK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CDF659-8095-241F-3616-5488553C6168}"/>
              </a:ext>
            </a:extLst>
          </p:cNvPr>
          <p:cNvSpPr txBox="1"/>
          <p:nvPr/>
        </p:nvSpPr>
        <p:spPr>
          <a:xfrm>
            <a:off x="398834" y="4049093"/>
            <a:ext cx="89591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Implemented in MIPS Assembly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Executed and tested in </a:t>
            </a:r>
            <a:r>
              <a:rPr lang="en-IN" sz="3600" dirty="0" err="1">
                <a:solidFill>
                  <a:schemeClr val="accent6">
                    <a:lumMod val="75000"/>
                  </a:schemeClr>
                </a:solidFill>
              </a:rPr>
              <a:t>QtSPIM</a:t>
            </a:r>
            <a:endParaRPr lang="en-IN" sz="36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Game terminates with WIN or GAME OVER</a:t>
            </a:r>
          </a:p>
        </p:txBody>
      </p:sp>
    </p:spTree>
    <p:extLst>
      <p:ext uri="{BB962C8B-B14F-4D97-AF65-F5344CB8AC3E}">
        <p14:creationId xmlns:p14="http://schemas.microsoft.com/office/powerpoint/2010/main" val="207316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8C5D42-5CBE-24E0-DDBB-8D12C76DC3D3}"/>
              </a:ext>
            </a:extLst>
          </p:cNvPr>
          <p:cNvSpPr txBox="1"/>
          <p:nvPr/>
        </p:nvSpPr>
        <p:spPr>
          <a:xfrm>
            <a:off x="0" y="612843"/>
            <a:ext cx="72373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6600" dirty="0">
                <a:solidFill>
                  <a:schemeClr val="accent1"/>
                </a:solidFill>
              </a:rPr>
              <a:t>Aim &amp;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46FEF-63EE-18EC-6AF2-3F2D6EAD9B9F}"/>
              </a:ext>
            </a:extLst>
          </p:cNvPr>
          <p:cNvSpPr txBox="1"/>
          <p:nvPr/>
        </p:nvSpPr>
        <p:spPr>
          <a:xfrm>
            <a:off x="184825" y="1867710"/>
            <a:ext cx="1182612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IN" sz="3600" dirty="0">
                <a:solidFill>
                  <a:schemeClr val="accent3">
                    <a:lumMod val="50000"/>
                  </a:schemeClr>
                </a:solidFill>
              </a:rPr>
              <a:t>Design a 4-Digit sequence  guessing game in MIPS </a:t>
            </a:r>
            <a:br>
              <a:rPr lang="en-IN" sz="36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IN" sz="3600" dirty="0">
                <a:solidFill>
                  <a:schemeClr val="accent3">
                    <a:lumMod val="50000"/>
                  </a:schemeClr>
                </a:solidFill>
              </a:rPr>
              <a:t>Assembly.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3600" dirty="0">
                <a:solidFill>
                  <a:schemeClr val="accent3">
                    <a:lumMod val="50000"/>
                  </a:schemeClr>
                </a:solidFill>
              </a:rPr>
              <a:t>Generate a secret sequence and accept user guesses.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3600" dirty="0">
                <a:solidFill>
                  <a:schemeClr val="accent3">
                    <a:lumMod val="50000"/>
                  </a:schemeClr>
                </a:solidFill>
              </a:rPr>
              <a:t>Validate the input and compare each guesses </a:t>
            </a:r>
            <a:br>
              <a:rPr lang="en-IN" sz="36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IN" sz="3600" dirty="0">
                <a:solidFill>
                  <a:schemeClr val="accent3">
                    <a:lumMod val="50000"/>
                  </a:schemeClr>
                </a:solidFill>
              </a:rPr>
              <a:t>with the secret.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3600" dirty="0">
                <a:solidFill>
                  <a:schemeClr val="accent3">
                    <a:lumMod val="50000"/>
                  </a:schemeClr>
                </a:solidFill>
              </a:rPr>
              <a:t>Provide meaningful feedback after every attempt.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3600" dirty="0">
                <a:solidFill>
                  <a:schemeClr val="accent3">
                    <a:lumMod val="50000"/>
                  </a:schemeClr>
                </a:solidFill>
              </a:rPr>
              <a:t>Limit the player to 7 attempts and display the final result</a:t>
            </a:r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EECB8-2D13-6D68-4680-211D5E173BED}"/>
              </a:ext>
            </a:extLst>
          </p:cNvPr>
          <p:cNvSpPr txBox="1"/>
          <p:nvPr/>
        </p:nvSpPr>
        <p:spPr>
          <a:xfrm>
            <a:off x="11463867" y="1608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74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4273DF-59A1-9FDF-0FB5-E5DAF80E6A15}"/>
              </a:ext>
            </a:extLst>
          </p:cNvPr>
          <p:cNvSpPr/>
          <p:nvPr/>
        </p:nvSpPr>
        <p:spPr>
          <a:xfrm>
            <a:off x="8283090" y="1345659"/>
            <a:ext cx="3177702" cy="1841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Registers</a:t>
            </a:r>
          </a:p>
          <a:p>
            <a:endParaRPr lang="en-IN" dirty="0"/>
          </a:p>
          <a:p>
            <a:r>
              <a:rPr lang="en-IN" sz="2400" b="1" dirty="0"/>
              <a:t>Temporary &amp; Persistence </a:t>
            </a:r>
          </a:p>
          <a:p>
            <a:r>
              <a:rPr lang="en-IN" sz="2400" b="1" dirty="0"/>
              <a:t>Values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DA0D38-30F4-7ABA-6271-7285C0D29DCF}"/>
              </a:ext>
            </a:extLst>
          </p:cNvPr>
          <p:cNvSpPr/>
          <p:nvPr/>
        </p:nvSpPr>
        <p:spPr>
          <a:xfrm>
            <a:off x="418290" y="4228289"/>
            <a:ext cx="3177702" cy="1841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</a:t>
            </a:r>
          </a:p>
          <a:p>
            <a:endParaRPr lang="en-IN" dirty="0"/>
          </a:p>
          <a:p>
            <a:r>
              <a:rPr lang="en-IN" sz="2400" b="1" dirty="0"/>
              <a:t>Secret and guess s</a:t>
            </a:r>
          </a:p>
          <a:p>
            <a:r>
              <a:rPr lang="en-IN" sz="2400" b="1" dirty="0"/>
              <a:t>storage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AFDA397-1B47-EE74-9CD5-98F973DB9864}"/>
              </a:ext>
            </a:extLst>
          </p:cNvPr>
          <p:cNvSpPr/>
          <p:nvPr/>
        </p:nvSpPr>
        <p:spPr>
          <a:xfrm>
            <a:off x="418290" y="1345659"/>
            <a:ext cx="3177702" cy="1841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u="sng" dirty="0">
                <a:solidFill>
                  <a:srgbClr val="FFFF00"/>
                </a:solidFill>
              </a:rPr>
              <a:t>MIPS Assembly</a:t>
            </a:r>
          </a:p>
          <a:p>
            <a:endParaRPr lang="en-IN" dirty="0"/>
          </a:p>
          <a:p>
            <a:r>
              <a:rPr lang="en-IN" sz="2800" b="1" dirty="0">
                <a:solidFill>
                  <a:schemeClr val="bg1"/>
                </a:solidFill>
              </a:rPr>
              <a:t>Core implementation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D2A9CB0-89FC-3B66-F255-200D76882369}"/>
              </a:ext>
            </a:extLst>
          </p:cNvPr>
          <p:cNvSpPr/>
          <p:nvPr/>
        </p:nvSpPr>
        <p:spPr>
          <a:xfrm>
            <a:off x="4356371" y="4228289"/>
            <a:ext cx="3177702" cy="1841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Loops &amp; Branches</a:t>
            </a:r>
          </a:p>
          <a:p>
            <a:endParaRPr lang="en-IN" dirty="0"/>
          </a:p>
          <a:p>
            <a:r>
              <a:rPr lang="en-IN" sz="2400" b="1" dirty="0"/>
              <a:t>Game flow &amp; Decisions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B8D43D-7D79-32E1-C159-A1DC6457AA34}"/>
              </a:ext>
            </a:extLst>
          </p:cNvPr>
          <p:cNvSpPr/>
          <p:nvPr/>
        </p:nvSpPr>
        <p:spPr>
          <a:xfrm>
            <a:off x="4356371" y="1345659"/>
            <a:ext cx="3177702" cy="1841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r>
              <a:rPr lang="en-IN" sz="2800" b="1" u="sng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QtSPIM</a:t>
            </a:r>
            <a:endParaRPr lang="en-IN" sz="2800" b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/>
          </a:p>
          <a:p>
            <a:r>
              <a:rPr lang="en-IN" sz="2800" b="1" dirty="0"/>
              <a:t>Execution &amp; testing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41A243A-C447-47F2-FDE9-A178AFFC724F}"/>
              </a:ext>
            </a:extLst>
          </p:cNvPr>
          <p:cNvSpPr/>
          <p:nvPr/>
        </p:nvSpPr>
        <p:spPr>
          <a:xfrm>
            <a:off x="8294452" y="4247744"/>
            <a:ext cx="3177702" cy="1841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 &amp; Stack</a:t>
            </a:r>
          </a:p>
          <a:p>
            <a:endParaRPr lang="en-IN" dirty="0"/>
          </a:p>
          <a:p>
            <a:r>
              <a:rPr lang="en-IN" sz="2400" b="1" dirty="0"/>
              <a:t>Modular logic &amp; </a:t>
            </a:r>
          </a:p>
          <a:p>
            <a:r>
              <a:rPr lang="en-IN" sz="2400" b="1" dirty="0"/>
              <a:t>Return 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CCD203-DD3D-45EB-BFEA-502BF8A56F94}"/>
              </a:ext>
            </a:extLst>
          </p:cNvPr>
          <p:cNvSpPr txBox="1"/>
          <p:nvPr/>
        </p:nvSpPr>
        <p:spPr>
          <a:xfrm>
            <a:off x="175098" y="214008"/>
            <a:ext cx="81987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4400" dirty="0">
                <a:solidFill>
                  <a:schemeClr val="bg1">
                    <a:lumMod val="95000"/>
                  </a:schemeClr>
                </a:solidFill>
              </a:rPr>
              <a:t>Technologies &amp; MIPS Concepts</a:t>
            </a:r>
          </a:p>
        </p:txBody>
      </p:sp>
    </p:spTree>
    <p:extLst>
      <p:ext uri="{BB962C8B-B14F-4D97-AF65-F5344CB8AC3E}">
        <p14:creationId xmlns:p14="http://schemas.microsoft.com/office/powerpoint/2010/main" val="3181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E27E4-ECB7-F84E-E523-A783F6D24BDD}"/>
              </a:ext>
            </a:extLst>
          </p:cNvPr>
          <p:cNvSpPr txBox="1"/>
          <p:nvPr/>
        </p:nvSpPr>
        <p:spPr>
          <a:xfrm>
            <a:off x="168480" y="175098"/>
            <a:ext cx="59275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System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527C8B-183D-A5F1-CE1F-2BB526B88B02}"/>
              </a:ext>
            </a:extLst>
          </p:cNvPr>
          <p:cNvSpPr/>
          <p:nvPr/>
        </p:nvSpPr>
        <p:spPr>
          <a:xfrm>
            <a:off x="321013" y="1429966"/>
            <a:ext cx="2110902" cy="11673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rgbClr val="FFC000"/>
                </a:solidFill>
              </a:rPr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DDC09-FD79-8ECC-496B-821AA320EDA5}"/>
              </a:ext>
            </a:extLst>
          </p:cNvPr>
          <p:cNvSpPr/>
          <p:nvPr/>
        </p:nvSpPr>
        <p:spPr>
          <a:xfrm>
            <a:off x="3279776" y="3524655"/>
            <a:ext cx="2110902" cy="11673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C000"/>
                </a:solidFill>
              </a:rPr>
              <a:t>Check </a:t>
            </a:r>
          </a:p>
          <a:p>
            <a:pPr algn="ctr"/>
            <a:r>
              <a:rPr lang="en-IN" sz="2800" b="1" dirty="0">
                <a:solidFill>
                  <a:srgbClr val="FFC000"/>
                </a:solidFill>
              </a:rPr>
              <a:t>Result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6B8FB0-1D19-8AC8-D403-AAFF417CA3C2}"/>
              </a:ext>
            </a:extLst>
          </p:cNvPr>
          <p:cNvSpPr/>
          <p:nvPr/>
        </p:nvSpPr>
        <p:spPr>
          <a:xfrm>
            <a:off x="6520775" y="3524656"/>
            <a:ext cx="2110902" cy="11673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C000"/>
                </a:solidFill>
              </a:rPr>
              <a:t>Compare </a:t>
            </a:r>
          </a:p>
          <a:p>
            <a:pPr algn="ctr"/>
            <a:r>
              <a:rPr lang="en-IN" sz="2800" b="1" dirty="0">
                <a:solidFill>
                  <a:srgbClr val="FFC000"/>
                </a:solidFill>
              </a:rPr>
              <a:t>Guess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02DF98-1473-884B-4077-8AD48D2739B4}"/>
              </a:ext>
            </a:extLst>
          </p:cNvPr>
          <p:cNvSpPr/>
          <p:nvPr/>
        </p:nvSpPr>
        <p:spPr>
          <a:xfrm>
            <a:off x="9607685" y="3524656"/>
            <a:ext cx="2110902" cy="11673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C000"/>
                </a:solidFill>
              </a:rPr>
              <a:t>Validate</a:t>
            </a:r>
          </a:p>
          <a:p>
            <a:pPr algn="ctr"/>
            <a:r>
              <a:rPr lang="en-IN" sz="2800" b="1" dirty="0">
                <a:solidFill>
                  <a:srgbClr val="FFC000"/>
                </a:solidFill>
              </a:rPr>
              <a:t>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046C88-CDAA-D99C-3653-101683B0FDD6}"/>
              </a:ext>
            </a:extLst>
          </p:cNvPr>
          <p:cNvSpPr/>
          <p:nvPr/>
        </p:nvSpPr>
        <p:spPr>
          <a:xfrm>
            <a:off x="3279776" y="1429965"/>
            <a:ext cx="2110902" cy="11673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C000"/>
                </a:solidFill>
              </a:rPr>
              <a:t>Display </a:t>
            </a:r>
          </a:p>
          <a:p>
            <a:pPr algn="ctr"/>
            <a:r>
              <a:rPr lang="en-IN" sz="2800" b="1" dirty="0">
                <a:solidFill>
                  <a:srgbClr val="FFC000"/>
                </a:solidFill>
              </a:rPr>
              <a:t>Rules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8965B4-4AD4-5A4B-A86F-248A86F7C069}"/>
              </a:ext>
            </a:extLst>
          </p:cNvPr>
          <p:cNvSpPr/>
          <p:nvPr/>
        </p:nvSpPr>
        <p:spPr>
          <a:xfrm>
            <a:off x="6520775" y="1429965"/>
            <a:ext cx="2110902" cy="11673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C000"/>
                </a:solidFill>
              </a:rPr>
              <a:t>Generate</a:t>
            </a:r>
          </a:p>
          <a:p>
            <a:pPr algn="ctr"/>
            <a:r>
              <a:rPr lang="en-IN" sz="2800" b="1" dirty="0">
                <a:solidFill>
                  <a:srgbClr val="FFC000"/>
                </a:solidFill>
              </a:rPr>
              <a:t>Secret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917762-9B93-D0FE-4D07-0B44E0EC8819}"/>
              </a:ext>
            </a:extLst>
          </p:cNvPr>
          <p:cNvSpPr/>
          <p:nvPr/>
        </p:nvSpPr>
        <p:spPr>
          <a:xfrm>
            <a:off x="9591472" y="1429965"/>
            <a:ext cx="2110902" cy="11673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C000"/>
                </a:solidFill>
              </a:rPr>
              <a:t>Enter </a:t>
            </a:r>
          </a:p>
          <a:p>
            <a:pPr algn="ctr"/>
            <a:r>
              <a:rPr lang="en-IN" sz="2800" b="1" dirty="0">
                <a:solidFill>
                  <a:srgbClr val="FFC000"/>
                </a:solidFill>
              </a:rPr>
              <a:t>Guess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AD09B70-860F-82C3-3300-2A3F20A9BFBC}"/>
              </a:ext>
            </a:extLst>
          </p:cNvPr>
          <p:cNvSpPr/>
          <p:nvPr/>
        </p:nvSpPr>
        <p:spPr>
          <a:xfrm rot="10800000">
            <a:off x="8737059" y="3793787"/>
            <a:ext cx="749030" cy="60311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58498C4-A1C1-3586-B9A1-BC35B56BC511}"/>
              </a:ext>
            </a:extLst>
          </p:cNvPr>
          <p:cNvSpPr/>
          <p:nvPr/>
        </p:nvSpPr>
        <p:spPr>
          <a:xfrm rot="5400000">
            <a:off x="10197830" y="2788595"/>
            <a:ext cx="749030" cy="60311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70ABF37-7934-89C9-287F-1EBDD418B5FE}"/>
              </a:ext>
            </a:extLst>
          </p:cNvPr>
          <p:cNvSpPr/>
          <p:nvPr/>
        </p:nvSpPr>
        <p:spPr>
          <a:xfrm>
            <a:off x="8737059" y="1754591"/>
            <a:ext cx="749030" cy="60311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9740DD6-34F9-FC26-D635-D35B61894DC0}"/>
              </a:ext>
            </a:extLst>
          </p:cNvPr>
          <p:cNvSpPr/>
          <p:nvPr/>
        </p:nvSpPr>
        <p:spPr>
          <a:xfrm>
            <a:off x="5556892" y="1754592"/>
            <a:ext cx="749030" cy="60311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B5AC2D73-EC2B-1558-1F76-39FE962F7FB9}"/>
              </a:ext>
            </a:extLst>
          </p:cNvPr>
          <p:cNvSpPr/>
          <p:nvPr/>
        </p:nvSpPr>
        <p:spPr>
          <a:xfrm>
            <a:off x="2504028" y="1712066"/>
            <a:ext cx="749030" cy="60311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331E6947-E1F0-CE02-ACCF-47D0538A1AA0}"/>
              </a:ext>
            </a:extLst>
          </p:cNvPr>
          <p:cNvSpPr/>
          <p:nvPr/>
        </p:nvSpPr>
        <p:spPr>
          <a:xfrm rot="10800000">
            <a:off x="5512274" y="3722451"/>
            <a:ext cx="749030" cy="60311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FA2625-9E79-5E7C-5AA2-47F279DC3B27}"/>
              </a:ext>
            </a:extLst>
          </p:cNvPr>
          <p:cNvSpPr/>
          <p:nvPr/>
        </p:nvSpPr>
        <p:spPr>
          <a:xfrm>
            <a:off x="476655" y="5428034"/>
            <a:ext cx="10930647" cy="108875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rgbClr val="92D050"/>
                </a:solidFill>
              </a:rPr>
              <a:t>4 Correct Positions </a:t>
            </a:r>
            <a:r>
              <a:rPr lang="en-IN" sz="2800" b="1" dirty="0">
                <a:solidFill>
                  <a:srgbClr val="92D050"/>
                </a:solidFill>
                <a:sym typeface="Wingdings" panose="05000000000000000000" pitchFamily="2" charset="2"/>
              </a:rPr>
              <a:t>Win</a:t>
            </a:r>
          </a:p>
          <a:p>
            <a:r>
              <a:rPr lang="en-IN" sz="2800" b="1" dirty="0">
                <a:solidFill>
                  <a:srgbClr val="92D050"/>
                </a:solidFill>
                <a:sym typeface="Wingdings" panose="05000000000000000000" pitchFamily="2" charset="2"/>
              </a:rPr>
              <a:t>Otherwise  increase attempt counter  repeat until 7 attempts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442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6981AA-C697-92C8-ECCB-1792C264F8CD}"/>
              </a:ext>
            </a:extLst>
          </p:cNvPr>
          <p:cNvSpPr txBox="1"/>
          <p:nvPr/>
        </p:nvSpPr>
        <p:spPr>
          <a:xfrm>
            <a:off x="651753" y="437745"/>
            <a:ext cx="700672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b="1" u="sng" dirty="0"/>
              <a:t>Secret Code Generation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7F61E-9B56-C195-00C2-CD564EC724B7}"/>
              </a:ext>
            </a:extLst>
          </p:cNvPr>
          <p:cNvSpPr txBox="1"/>
          <p:nvPr/>
        </p:nvSpPr>
        <p:spPr>
          <a:xfrm>
            <a:off x="651753" y="1108953"/>
            <a:ext cx="8255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Pseudo-random generation using system time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EC18F2-E8E5-D7A0-49A9-561D509AD52B}"/>
              </a:ext>
            </a:extLst>
          </p:cNvPr>
          <p:cNvSpPr/>
          <p:nvPr/>
        </p:nvSpPr>
        <p:spPr>
          <a:xfrm>
            <a:off x="787940" y="1955260"/>
            <a:ext cx="2198451" cy="122568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Time</a:t>
            </a:r>
            <a:endParaRPr lang="en-IN" dirty="0"/>
          </a:p>
          <a:p>
            <a:r>
              <a:rPr lang="en-IN" dirty="0"/>
              <a:t>Starting Seed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BCC849-868D-5703-FB7A-AB94C01C9D97}"/>
              </a:ext>
            </a:extLst>
          </p:cNvPr>
          <p:cNvSpPr/>
          <p:nvPr/>
        </p:nvSpPr>
        <p:spPr>
          <a:xfrm>
            <a:off x="3670564" y="1955258"/>
            <a:ext cx="2198451" cy="122568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LCG</a:t>
            </a:r>
          </a:p>
          <a:p>
            <a:r>
              <a:rPr lang="en-IN" sz="1600" dirty="0"/>
              <a:t>seed x 1103515245 + 12345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0565CB-9F4F-8617-AD57-C9C31B358DA3}"/>
              </a:ext>
            </a:extLst>
          </p:cNvPr>
          <p:cNvSpPr/>
          <p:nvPr/>
        </p:nvSpPr>
        <p:spPr>
          <a:xfrm>
            <a:off x="6559253" y="1955258"/>
            <a:ext cx="2198451" cy="122568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Modulo 10</a:t>
            </a:r>
          </a:p>
          <a:p>
            <a:r>
              <a:rPr lang="en-IN" dirty="0"/>
              <a:t>digit = seed % 10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985F39-AA48-283B-0222-72DFD985D5AC}"/>
              </a:ext>
            </a:extLst>
          </p:cNvPr>
          <p:cNvSpPr/>
          <p:nvPr/>
        </p:nvSpPr>
        <p:spPr>
          <a:xfrm>
            <a:off x="9465013" y="1955259"/>
            <a:ext cx="2198451" cy="122568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Repeat x4</a:t>
            </a:r>
          </a:p>
          <a:p>
            <a:r>
              <a:rPr lang="en-IN" dirty="0"/>
              <a:t>Build secret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E3252-6388-4FDF-A243-3D1D77BF339D}"/>
              </a:ext>
            </a:extLst>
          </p:cNvPr>
          <p:cNvSpPr txBox="1"/>
          <p:nvPr/>
        </p:nvSpPr>
        <p:spPr>
          <a:xfrm>
            <a:off x="651753" y="4182894"/>
            <a:ext cx="79961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/>
              <a:t>seed = seed x 1103515245 + 12345</a:t>
            </a:r>
          </a:p>
          <a:p>
            <a:r>
              <a:rPr lang="en-IN" sz="4000" b="1" dirty="0"/>
              <a:t>digit = seed mod 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1CE11-EAA3-E523-7D83-1259FC683750}"/>
              </a:ext>
            </a:extLst>
          </p:cNvPr>
          <p:cNvSpPr/>
          <p:nvPr/>
        </p:nvSpPr>
        <p:spPr>
          <a:xfrm>
            <a:off x="457200" y="3764604"/>
            <a:ext cx="8647889" cy="216926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75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7358AD-102A-C831-35EA-45B8143664E7}"/>
              </a:ext>
            </a:extLst>
          </p:cNvPr>
          <p:cNvSpPr txBox="1"/>
          <p:nvPr/>
        </p:nvSpPr>
        <p:spPr>
          <a:xfrm>
            <a:off x="165370" y="0"/>
            <a:ext cx="99621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>
                    <a:lumMod val="95000"/>
                  </a:schemeClr>
                </a:solidFill>
              </a:rPr>
              <a:t>Guess Comparison Algorithm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9F7D30-17F3-BF88-8870-1A8B42479ADD}"/>
              </a:ext>
            </a:extLst>
          </p:cNvPr>
          <p:cNvSpPr/>
          <p:nvPr/>
        </p:nvSpPr>
        <p:spPr>
          <a:xfrm>
            <a:off x="165369" y="1488332"/>
            <a:ext cx="3917599" cy="2354094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1.Correct Position</a:t>
            </a:r>
          </a:p>
          <a:p>
            <a:pPr algn="ctr"/>
            <a:r>
              <a:rPr lang="en-IN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Compare secret[</a:t>
            </a:r>
            <a:r>
              <a:rPr lang="en-IN" sz="2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i</a:t>
            </a:r>
            <a:r>
              <a:rPr lang="en-IN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] with guess[</a:t>
            </a:r>
            <a:r>
              <a:rPr lang="en-IN" sz="2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i</a:t>
            </a:r>
            <a:r>
              <a:rPr lang="en-IN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]. Finding Exact matches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7EB318-BEA6-D536-4960-46A3E6DAD5F9}"/>
              </a:ext>
            </a:extLst>
          </p:cNvPr>
          <p:cNvSpPr/>
          <p:nvPr/>
        </p:nvSpPr>
        <p:spPr>
          <a:xfrm>
            <a:off x="4210307" y="1524000"/>
            <a:ext cx="3771386" cy="2282758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2.Wrong Position</a:t>
            </a:r>
          </a:p>
          <a:p>
            <a:pPr algn="ctr"/>
            <a:r>
              <a:rPr lang="en-IN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Search for matching digits at different positions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979807-D5A1-D092-7BC4-7DAC581A7161}"/>
              </a:ext>
            </a:extLst>
          </p:cNvPr>
          <p:cNvSpPr/>
          <p:nvPr/>
        </p:nvSpPr>
        <p:spPr>
          <a:xfrm>
            <a:off x="8109032" y="1559668"/>
            <a:ext cx="3917598" cy="2282758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3.Not Present</a:t>
            </a:r>
          </a:p>
          <a:p>
            <a:pPr algn="ctr"/>
            <a:r>
              <a:rPr lang="en-IN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 – correct position – wrong position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CF9560-3475-944C-2A93-C9869BC53F1E}"/>
              </a:ext>
            </a:extLst>
          </p:cNvPr>
          <p:cNvSpPr txBox="1"/>
          <p:nvPr/>
        </p:nvSpPr>
        <p:spPr>
          <a:xfrm>
            <a:off x="0" y="4386431"/>
            <a:ext cx="117486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rgbClr val="FFFF00"/>
                </a:solidFill>
              </a:rPr>
              <a:t>The comparison procedure stores results in registers</a:t>
            </a:r>
          </a:p>
          <a:p>
            <a:r>
              <a:rPr lang="en-IN" sz="4000" dirty="0">
                <a:solidFill>
                  <a:srgbClr val="FFFF00"/>
                </a:solidFill>
              </a:rPr>
              <a:t> used by the main game loop.</a:t>
            </a:r>
          </a:p>
        </p:txBody>
      </p:sp>
    </p:spTree>
    <p:extLst>
      <p:ext uri="{BB962C8B-B14F-4D97-AF65-F5344CB8AC3E}">
        <p14:creationId xmlns:p14="http://schemas.microsoft.com/office/powerpoint/2010/main" val="16758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33E549-B886-E014-D3CD-1FDAA3246DFF}"/>
              </a:ext>
            </a:extLst>
          </p:cNvPr>
          <p:cNvSpPr txBox="1"/>
          <p:nvPr/>
        </p:nvSpPr>
        <p:spPr>
          <a:xfrm>
            <a:off x="428017" y="-77822"/>
            <a:ext cx="6902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Feedback</a:t>
            </a:r>
          </a:p>
        </p:txBody>
      </p:sp>
      <p:sp>
        <p:nvSpPr>
          <p:cNvPr id="3" name="Double Bracket 2">
            <a:extLst>
              <a:ext uri="{FF2B5EF4-FFF2-40B4-BE49-F238E27FC236}">
                <a16:creationId xmlns:a16="http://schemas.microsoft.com/office/drawing/2014/main" id="{92F4A84D-97EA-37F1-3730-3E9DBA2BBCD5}"/>
              </a:ext>
            </a:extLst>
          </p:cNvPr>
          <p:cNvSpPr/>
          <p:nvPr/>
        </p:nvSpPr>
        <p:spPr>
          <a:xfrm>
            <a:off x="904672" y="3806756"/>
            <a:ext cx="2509737" cy="1624519"/>
          </a:xfrm>
          <a:prstGeom prst="bracketPair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>
            <a:extLst>
              <a:ext uri="{FF2B5EF4-FFF2-40B4-BE49-F238E27FC236}">
                <a16:creationId xmlns:a16="http://schemas.microsoft.com/office/drawing/2014/main" id="{A1E6A520-3B24-D935-617C-D1550D14C7DD}"/>
              </a:ext>
            </a:extLst>
          </p:cNvPr>
          <p:cNvSpPr/>
          <p:nvPr/>
        </p:nvSpPr>
        <p:spPr>
          <a:xfrm>
            <a:off x="4675761" y="3806756"/>
            <a:ext cx="2509737" cy="1624519"/>
          </a:xfrm>
          <a:prstGeom prst="bracketPair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uble Bracket 6">
            <a:extLst>
              <a:ext uri="{FF2B5EF4-FFF2-40B4-BE49-F238E27FC236}">
                <a16:creationId xmlns:a16="http://schemas.microsoft.com/office/drawing/2014/main" id="{CC2D71C4-6515-1AC1-2745-7C4C69AA78F6}"/>
              </a:ext>
            </a:extLst>
          </p:cNvPr>
          <p:cNvSpPr/>
          <p:nvPr/>
        </p:nvSpPr>
        <p:spPr>
          <a:xfrm>
            <a:off x="8612220" y="3806758"/>
            <a:ext cx="2509737" cy="1624519"/>
          </a:xfrm>
          <a:prstGeom prst="bracketPair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52BD39-21E7-0C2C-8946-063E18F6D720}"/>
              </a:ext>
            </a:extLst>
          </p:cNvPr>
          <p:cNvSpPr/>
          <p:nvPr/>
        </p:nvSpPr>
        <p:spPr>
          <a:xfrm>
            <a:off x="749030" y="1040860"/>
            <a:ext cx="5038927" cy="19066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SECRET</a:t>
            </a:r>
          </a:p>
          <a:p>
            <a:pPr algn="ctr"/>
            <a:r>
              <a:rPr lang="en-IN" sz="4000" spc="600" dirty="0"/>
              <a:t>6 1 2 1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1727F0-A15E-74F0-DB42-F1BF5255C54C}"/>
              </a:ext>
            </a:extLst>
          </p:cNvPr>
          <p:cNvSpPr/>
          <p:nvPr/>
        </p:nvSpPr>
        <p:spPr>
          <a:xfrm>
            <a:off x="6251643" y="1040860"/>
            <a:ext cx="5038927" cy="19066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GUESS</a:t>
            </a:r>
          </a:p>
          <a:p>
            <a:pPr algn="ctr"/>
            <a:r>
              <a:rPr lang="en-IN" sz="4400" spc="600" dirty="0"/>
              <a:t>4 1 2 9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C124B-4C11-4549-FEC2-DAE30BC15B9D}"/>
              </a:ext>
            </a:extLst>
          </p:cNvPr>
          <p:cNvSpPr txBox="1"/>
          <p:nvPr/>
        </p:nvSpPr>
        <p:spPr>
          <a:xfrm>
            <a:off x="1182508" y="4095344"/>
            <a:ext cx="2080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Correct Position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2C6E8F-4544-9FC6-AB65-C105C017ECB4}"/>
              </a:ext>
            </a:extLst>
          </p:cNvPr>
          <p:cNvSpPr txBox="1"/>
          <p:nvPr/>
        </p:nvSpPr>
        <p:spPr>
          <a:xfrm>
            <a:off x="5093059" y="4105072"/>
            <a:ext cx="1769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Wrong Position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7145D9-33AC-8D5A-4633-34E25B81C012}"/>
              </a:ext>
            </a:extLst>
          </p:cNvPr>
          <p:cNvSpPr txBox="1"/>
          <p:nvPr/>
        </p:nvSpPr>
        <p:spPr>
          <a:xfrm>
            <a:off x="9187543" y="4085297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Not Present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A0F06A-364D-487B-9BE8-01107D82CFD2}"/>
              </a:ext>
            </a:extLst>
          </p:cNvPr>
          <p:cNvSpPr txBox="1"/>
          <p:nvPr/>
        </p:nvSpPr>
        <p:spPr>
          <a:xfrm>
            <a:off x="2007221" y="4508132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CF1569-1CE5-E65E-5D11-F06E0759B5B2}"/>
              </a:ext>
            </a:extLst>
          </p:cNvPr>
          <p:cNvSpPr txBox="1"/>
          <p:nvPr/>
        </p:nvSpPr>
        <p:spPr>
          <a:xfrm>
            <a:off x="5658608" y="4508132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CDCAF-48A1-5A71-DDE9-27776F85C660}"/>
              </a:ext>
            </a:extLst>
          </p:cNvPr>
          <p:cNvSpPr txBox="1"/>
          <p:nvPr/>
        </p:nvSpPr>
        <p:spPr>
          <a:xfrm>
            <a:off x="9682871" y="4532741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0070C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45804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ED2A95-3DF6-27C2-CE7C-0D893B757BD3}"/>
              </a:ext>
            </a:extLst>
          </p:cNvPr>
          <p:cNvSpPr txBox="1"/>
          <p:nvPr/>
        </p:nvSpPr>
        <p:spPr>
          <a:xfrm>
            <a:off x="175098" y="0"/>
            <a:ext cx="67755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Execution Result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CDC513-607A-5177-6EB3-9FE12FEA198F}"/>
              </a:ext>
            </a:extLst>
          </p:cNvPr>
          <p:cNvSpPr/>
          <p:nvPr/>
        </p:nvSpPr>
        <p:spPr>
          <a:xfrm>
            <a:off x="282102" y="769441"/>
            <a:ext cx="2675107" cy="1467921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A2A889-965D-1DE8-A1BD-A19AC8288F68}"/>
              </a:ext>
            </a:extLst>
          </p:cNvPr>
          <p:cNvSpPr/>
          <p:nvPr/>
        </p:nvSpPr>
        <p:spPr>
          <a:xfrm>
            <a:off x="6232702" y="769440"/>
            <a:ext cx="2675107" cy="1467921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4285DC-8554-AF95-296A-A991B9801724}"/>
              </a:ext>
            </a:extLst>
          </p:cNvPr>
          <p:cNvSpPr/>
          <p:nvPr/>
        </p:nvSpPr>
        <p:spPr>
          <a:xfrm>
            <a:off x="9234791" y="769441"/>
            <a:ext cx="2675107" cy="1467921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3B81451-3FE7-603C-FE6B-3DD1DFA0112E}"/>
              </a:ext>
            </a:extLst>
          </p:cNvPr>
          <p:cNvSpPr/>
          <p:nvPr/>
        </p:nvSpPr>
        <p:spPr>
          <a:xfrm>
            <a:off x="3203900" y="769440"/>
            <a:ext cx="2675107" cy="1467921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04A1A-F432-35FD-C1C9-D19895EB36D0}"/>
              </a:ext>
            </a:extLst>
          </p:cNvPr>
          <p:cNvSpPr txBox="1"/>
          <p:nvPr/>
        </p:nvSpPr>
        <p:spPr>
          <a:xfrm>
            <a:off x="371306" y="833146"/>
            <a:ext cx="2568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solidFill>
                  <a:srgbClr val="C00000"/>
                </a:solidFill>
              </a:rPr>
              <a:t>Secret Sequence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4BA381-C062-463F-C779-70792BE6A09C}"/>
              </a:ext>
            </a:extLst>
          </p:cNvPr>
          <p:cNvSpPr txBox="1"/>
          <p:nvPr/>
        </p:nvSpPr>
        <p:spPr>
          <a:xfrm>
            <a:off x="3255967" y="833146"/>
            <a:ext cx="2677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solidFill>
                  <a:srgbClr val="C00000"/>
                </a:solidFill>
              </a:rPr>
              <a:t>Allowed Attempts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6AC4CF-7706-608B-5DAC-0225B7B668EC}"/>
              </a:ext>
            </a:extLst>
          </p:cNvPr>
          <p:cNvSpPr txBox="1"/>
          <p:nvPr/>
        </p:nvSpPr>
        <p:spPr>
          <a:xfrm>
            <a:off x="9543062" y="831469"/>
            <a:ext cx="1092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solidFill>
                  <a:srgbClr val="C00000"/>
                </a:solidFill>
              </a:rPr>
              <a:t>Status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799A98-44F1-D3CC-46D5-94A4108B8C04}"/>
              </a:ext>
            </a:extLst>
          </p:cNvPr>
          <p:cNvSpPr txBox="1"/>
          <p:nvPr/>
        </p:nvSpPr>
        <p:spPr>
          <a:xfrm>
            <a:off x="6295165" y="800691"/>
            <a:ext cx="2272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solidFill>
                  <a:srgbClr val="C00000"/>
                </a:solidFill>
              </a:rPr>
              <a:t>Attempts Used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483874-347A-34F7-EB19-1E4C538BE299}"/>
              </a:ext>
            </a:extLst>
          </p:cNvPr>
          <p:cNvSpPr txBox="1"/>
          <p:nvPr/>
        </p:nvSpPr>
        <p:spPr>
          <a:xfrm>
            <a:off x="936928" y="1548291"/>
            <a:ext cx="1455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accent5">
                    <a:lumMod val="75000"/>
                  </a:schemeClr>
                </a:solidFill>
              </a:rPr>
              <a:t>6 1 2 1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9976AE-D58A-67DF-6A19-15672A565514}"/>
              </a:ext>
            </a:extLst>
          </p:cNvPr>
          <p:cNvSpPr txBox="1"/>
          <p:nvPr/>
        </p:nvSpPr>
        <p:spPr>
          <a:xfrm>
            <a:off x="4217929" y="160984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C9BA3E-4C15-5AAE-1D22-B193CD36CE8B}"/>
              </a:ext>
            </a:extLst>
          </p:cNvPr>
          <p:cNvSpPr txBox="1"/>
          <p:nvPr/>
        </p:nvSpPr>
        <p:spPr>
          <a:xfrm>
            <a:off x="7207943" y="1609847"/>
            <a:ext cx="447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FB432E-2A6F-A22F-72BE-C072246D4DCA}"/>
              </a:ext>
            </a:extLst>
          </p:cNvPr>
          <p:cNvSpPr txBox="1"/>
          <p:nvPr/>
        </p:nvSpPr>
        <p:spPr>
          <a:xfrm>
            <a:off x="9638594" y="1609847"/>
            <a:ext cx="1867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GAME OVER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C991C56-A04A-6EE6-8595-8AFC0FE4A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69" y="2584851"/>
            <a:ext cx="9838194" cy="378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6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219EC-1EEE-C35D-13D3-E4ADAADD86A5}"/>
              </a:ext>
            </a:extLst>
          </p:cNvPr>
          <p:cNvSpPr txBox="1"/>
          <p:nvPr/>
        </p:nvSpPr>
        <p:spPr>
          <a:xfrm>
            <a:off x="126460" y="165370"/>
            <a:ext cx="87255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/>
              <a:t>Conclusion &amp; Future Scope</a:t>
            </a:r>
          </a:p>
        </p:txBody>
      </p:sp>
      <p:sp>
        <p:nvSpPr>
          <p:cNvPr id="3" name="Double Bracket 2">
            <a:extLst>
              <a:ext uri="{FF2B5EF4-FFF2-40B4-BE49-F238E27FC236}">
                <a16:creationId xmlns:a16="http://schemas.microsoft.com/office/drawing/2014/main" id="{6C9CFD9D-C8A9-F592-7F79-9182400A04B6}"/>
              </a:ext>
            </a:extLst>
          </p:cNvPr>
          <p:cNvSpPr/>
          <p:nvPr/>
        </p:nvSpPr>
        <p:spPr>
          <a:xfrm>
            <a:off x="262647" y="1088700"/>
            <a:ext cx="5408579" cy="216033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>
            <a:extLst>
              <a:ext uri="{FF2B5EF4-FFF2-40B4-BE49-F238E27FC236}">
                <a16:creationId xmlns:a16="http://schemas.microsoft.com/office/drawing/2014/main" id="{D5C1DD79-C8F9-8CAC-23BC-1544E9169CAC}"/>
              </a:ext>
            </a:extLst>
          </p:cNvPr>
          <p:cNvSpPr/>
          <p:nvPr/>
        </p:nvSpPr>
        <p:spPr>
          <a:xfrm>
            <a:off x="6213506" y="1088700"/>
            <a:ext cx="5408579" cy="216033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886B4-7271-DC4B-18D5-E3FDA356A01A}"/>
              </a:ext>
            </a:extLst>
          </p:cNvPr>
          <p:cNvSpPr txBox="1"/>
          <p:nvPr/>
        </p:nvSpPr>
        <p:spPr>
          <a:xfrm>
            <a:off x="192266" y="950201"/>
            <a:ext cx="554934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  <a:p>
            <a:pPr algn="ctr"/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The project successfully implements</a:t>
            </a:r>
          </a:p>
          <a:p>
            <a:pPr algn="ctr"/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 a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4-digit guessing game </a:t>
            </a:r>
          </a:p>
          <a:p>
            <a:pPr algn="ctr"/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in MIPS using </a:t>
            </a:r>
            <a:r>
              <a:rPr lang="en-IN" sz="2000" b="1" dirty="0" err="1">
                <a:solidFill>
                  <a:schemeClr val="accent5">
                    <a:lumMod val="75000"/>
                  </a:schemeClr>
                </a:solidFill>
              </a:rPr>
              <a:t>QtSPIM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, demonstrating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registers,</a:t>
            </a:r>
          </a:p>
          <a:p>
            <a:pPr algn="ctr"/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 loops, branching, arrays, procedures, </a:t>
            </a:r>
          </a:p>
          <a:p>
            <a:pPr algn="ctr"/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and stack operations</a:t>
            </a:r>
            <a:r>
              <a:rPr lang="en-IN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53EEA8-B25B-AD34-92CF-3B98AACC30E6}"/>
              </a:ext>
            </a:extLst>
          </p:cNvPr>
          <p:cNvSpPr txBox="1"/>
          <p:nvPr/>
        </p:nvSpPr>
        <p:spPr>
          <a:xfrm>
            <a:off x="7311572" y="978586"/>
            <a:ext cx="2350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EEE00-55D1-C140-2897-B47A8C5574C3}"/>
              </a:ext>
            </a:extLst>
          </p:cNvPr>
          <p:cNvSpPr txBox="1"/>
          <p:nvPr/>
        </p:nvSpPr>
        <p:spPr>
          <a:xfrm>
            <a:off x="6285703" y="1607880"/>
            <a:ext cx="479410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Add </a:t>
            </a:r>
            <a:r>
              <a:rPr lang="en-IN" sz="1600" b="1" dirty="0"/>
              <a:t>different difficulty levels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Increase </a:t>
            </a:r>
            <a:r>
              <a:rPr lang="en-IN" sz="1600" b="1" dirty="0"/>
              <a:t>digits and attempts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Add </a:t>
            </a:r>
            <a:r>
              <a:rPr lang="en-IN" sz="1600" b="1" dirty="0"/>
              <a:t>score calculation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Develop a </a:t>
            </a:r>
            <a:r>
              <a:rPr lang="en-IN" sz="1600" b="1" dirty="0"/>
              <a:t>graphical user interface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Add a </a:t>
            </a:r>
            <a:r>
              <a:rPr lang="en-IN" sz="1600" b="1" dirty="0"/>
              <a:t>leaderboard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/>
              <a:t>Improve the </a:t>
            </a:r>
            <a:r>
              <a:rPr lang="en-IN" sz="1600" b="1" dirty="0"/>
              <a:t>random code generation</a:t>
            </a:r>
            <a:r>
              <a:rPr lang="en-IN" sz="1600" dirty="0"/>
              <a:t> and game modes </a:t>
            </a:r>
          </a:p>
          <a:p>
            <a:endParaRPr lang="en-IN" dirty="0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B568E87A-9A3C-5A52-6EF9-DF456E9CBA57}"/>
              </a:ext>
            </a:extLst>
          </p:cNvPr>
          <p:cNvSpPr/>
          <p:nvPr/>
        </p:nvSpPr>
        <p:spPr>
          <a:xfrm>
            <a:off x="702012" y="5076882"/>
            <a:ext cx="10787975" cy="1605064"/>
          </a:xfrm>
          <a:prstGeom prst="round2Diag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7D1F4-F7A9-0127-1A14-3D37BADD2F22}"/>
              </a:ext>
            </a:extLst>
          </p:cNvPr>
          <p:cNvSpPr txBox="1"/>
          <p:nvPr/>
        </p:nvSpPr>
        <p:spPr>
          <a:xfrm>
            <a:off x="826851" y="5076882"/>
            <a:ext cx="262264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Team Members 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CB3E5-AB7A-A6AE-3364-312B8282D083}"/>
              </a:ext>
            </a:extLst>
          </p:cNvPr>
          <p:cNvSpPr txBox="1"/>
          <p:nvPr/>
        </p:nvSpPr>
        <p:spPr>
          <a:xfrm>
            <a:off x="878537" y="5692435"/>
            <a:ext cx="9940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002060"/>
                </a:solidFill>
              </a:rPr>
              <a:t>Angan</a:t>
            </a:r>
            <a:r>
              <a:rPr lang="en-IN" dirty="0">
                <a:solidFill>
                  <a:srgbClr val="002060"/>
                </a:solidFill>
              </a:rPr>
              <a:t> Jana(1416) ,  Aayan Kumar Mondal(1402)  ,  Aritra Dey Sarkar(1419)  ,  Satyaki Banerjee(1482) </a:t>
            </a:r>
          </a:p>
        </p:txBody>
      </p:sp>
    </p:spTree>
    <p:extLst>
      <p:ext uri="{BB962C8B-B14F-4D97-AF65-F5344CB8AC3E}">
        <p14:creationId xmlns:p14="http://schemas.microsoft.com/office/powerpoint/2010/main" val="43075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86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425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Mastermind Codebreaker Game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Satyaki Banerjee</dc:creator>
  <cp:lastModifiedBy>Satyaki Banerjee</cp:lastModifiedBy>
  <cp:revision>1</cp:revision>
  <dcterms:created xsi:type="dcterms:W3CDTF">2026-10-02T20:34:23Z</dcterms:created>
  <dcterms:modified xsi:type="dcterms:W3CDTF">2026-10-05T13:31:30Z</dcterms:modified>
</cp:coreProperties>
</file>